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2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GeM Bid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DFF"/>
                </a:solidFill>
              </a:defRPr>
            </a:pPr>
            <a:r>
              <a:t>Self-Contained Drinking Water Coolers (V3) as per IS 1475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017520"/>
            <a:ext cx="3047695" cy="2743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383280"/>
            <a:ext cx="6705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DDEEFF"/>
                </a:solidFill>
              </a:defRPr>
            </a:pPr>
            <a:r>
              <a:t>• Bid Number: GEM/2026/B/7094486</a:t>
            </a:r>
          </a:p>
          <a:p>
            <a:pPr>
              <a:spcAft>
                <a:spcPts val="300"/>
              </a:spcAft>
              <a:defRPr sz="1700">
                <a:solidFill>
                  <a:srgbClr val="DDEEFF"/>
                </a:solidFill>
              </a:defRPr>
            </a:pPr>
            <a:r>
              <a:t>• Contract Number: GEMC-511687751472352</a:t>
            </a:r>
          </a:p>
          <a:p>
            <a:pPr>
              <a:spcAft>
                <a:spcPts val="300"/>
              </a:spcAft>
              <a:defRPr sz="1700">
                <a:solidFill>
                  <a:srgbClr val="DDEEFF"/>
                </a:solidFill>
              </a:defRPr>
            </a:pPr>
            <a:r>
              <a:t>• Ministry: Ministry of Railways  |  Organisation: North Western Railway</a:t>
            </a:r>
          </a:p>
          <a:p>
            <a:pPr>
              <a:spcAft>
                <a:spcPts val="300"/>
              </a:spcAft>
              <a:defRPr sz="1700">
                <a:solidFill>
                  <a:srgbClr val="DDEEFF"/>
                </a:solidFill>
              </a:defRPr>
            </a:pPr>
            <a:r>
              <a:t>• Buyer: DYCMM1 HQ Jaipur  |  Seller: COOL HOME (INDIA)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BBDD"/>
                </a:solidFill>
              </a:defRPr>
            </a:pPr>
            <a:r>
              <a:t>North Western Railway  |  Indian Railways  |  Ministry of Railways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Bid Overview &amp; Key Dates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112471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132320"/>
              </a:tblGrid>
              <a:tr h="322729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Bid Number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GEM/2026/B/7094486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Bid Issue Date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14-01-2026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Bid End Date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18-02-2026, 11:00 AM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Bid Opening Date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18-02-2026, 11:30 AM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Bid Offer Validity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120 Days from End Date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Total Quantity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120 Pieces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Estimated Bid Value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Rs 54,42,000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Actual Contract Value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Rs 43,00,200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Unit Price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Rs 35,835 per piece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Delivery Period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60 Days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EMD Amount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Rs 1,08,840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ePBG Percentage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ePBG Duration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12 Months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Evaluation Method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Total Value Wise Evaluation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22729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Bid Type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Single Packet Bid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2736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Bid Splitting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Not Applied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Product Specifications - Water Cooler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1161288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389120"/>
                <a:gridCol w="4297680"/>
              </a:tblGrid>
              <a:tr h="333487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Contract Product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Product Name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Self-Contained Drinking Water Cooler (V3)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FRESCO CASA Storage Type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IS Standard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IS 1475 (Part 1): 2001 latest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As per IS 1475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Storage Type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Storage Type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Cooling Capacity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150 LPH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150 LPH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Storage Capacity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150 Liters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150 Liters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Power Supply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230V Single Phase, 50 Hz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230V Single Phase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Power Consumption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1440 Watt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Power Factor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Number of Faucets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Storage Material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Stainless Steel 304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Stainless Steel 304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Outer Body Material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Stainless Steel 304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Stainless Steel 304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Compressor Type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Reciprocating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Refrigerant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Eco-Friendly (Non-CFC)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As per IS 1475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Connecting Cable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1.5m, 3-core, IS:9968/IS:694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33487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Tank Lid/Bottom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Epoxy Painted GI Sheet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3488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FCSWC150150RIO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Certifications &amp; Warranties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669280" cy="41148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CERTIFICATIONS REQUIRED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5669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2560320"/>
              </a:tblGrid>
              <a:tr h="326571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Certification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BIS Registration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Mandatory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Submit with bid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BIS License No.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8800198224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Type Test Report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Central Govt/NABL/ILAC Lab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IS 1475 Compliance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Mandatory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IS:1475 (Part 1): 2001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Test Report on Demand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At time of supply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Test Report Number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25E6BEB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217920" y="960120"/>
            <a:ext cx="5669280" cy="41148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9784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WARRANTY DETAILS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463040"/>
          <a:ext cx="5669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6576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Complete Unit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 Year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Compressor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 Year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Refrigerant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Non-CFC Mandatory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74320" y="3931920"/>
            <a:ext cx="11612880" cy="41148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9502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ADDITIONAL TECHNICAL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Drinking water cooler conforming to IS:1475 (Part 1): 2001 latest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Input voltage 230/240 Volt, 50 Hz, AC, Single Phase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Connecting cable: 1.5m, 3-core, IS:9968 (Pt.1) or IS:694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Water Tank lid &amp; bottom: Epoxy Painted Galvanized iron sheet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Eco-Friendly refrigerant (Non CFC) mandatory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Delivery Schedule &amp; Consignee Details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3200400"/>
                <a:gridCol w="914400"/>
                <a:gridCol w="4114800"/>
              </a:tblGrid>
              <a:tr h="3810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S.No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Consignee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Delivery Window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Ashok Kumar Dabi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Jodhpur - 342001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18-Mar to 17-May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Deepak Garg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Ajmer - 305001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18-Mar to 17-May 2026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Sunil Kumar Singh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Bikaner - 334001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18-Mar to 17-May 2026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Surendra Meena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Jaipur - 302006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18-Mar to 17-May 2026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60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" y="3474720"/>
            <a:ext cx="11612880" cy="4114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4930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KEY DELIVERY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All 4 deliveries must be completed within 60 days from 18-Mar-2026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Delivery CAN be split - OEM can deliver to each location separately at different times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Option Clause: Buyer can increase/decrease qty up to 25% at contract placement; increase up to 25% also during contract period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Additional delivery time = (Increased qty / Original qty) x Original period, min 30 days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</a:defRPr>
            </a:pPr>
            <a:r>
              <a:t>• GST/Tax invoice to be raised in the name of each Consignee separately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Inspection Process - Analysis of RITES Requirement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3657600" cy="7315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EVIDENCE 1</a:t>
            </a:r>
            <a:br/>
            <a:r>
              <a:t>System: 'Inspection Required: NO'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051560"/>
            <a:ext cx="3931920" cy="7315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078992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EVIDENCE 2</a:t>
            </a:r>
            <a:br/>
            <a:r>
              <a:t>ATC: 'applicable only IF selected'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051560"/>
            <a:ext cx="3657600" cy="7315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07899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EVIDENCE 3</a:t>
            </a:r>
            <a:br/>
            <a:r>
              <a:t>Disclaimer: ATC can't contradict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11612880" cy="457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3474720" cy="9144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1</a:t>
            </a:r>
            <a:br/>
            <a:r>
              <a:t>OEM Manufactures</a:t>
            </a:r>
            <a:br/>
            <a:r>
              <a:t>the Water Coolers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6C00"/>
                </a:solidFill>
              </a:defRPr>
            </a:pPr>
            <a: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286000"/>
            <a:ext cx="3474720" cy="9144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2</a:t>
            </a:r>
            <a:br/>
            <a:r>
              <a:t>OEM Dispatches Directly</a:t>
            </a:r>
            <a:br/>
            <a:r>
              <a:t>to Consignee Locations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6C00"/>
                </a:solidFill>
              </a:defRPr>
            </a:pPr>
            <a: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286000"/>
            <a:ext cx="3474720" cy="9144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377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3</a:t>
            </a:r>
            <a:br/>
            <a:r>
              <a:t>Post-Receipt Inspection</a:t>
            </a:r>
            <a:br/>
            <a:r>
              <a:t>by Consignee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74720"/>
            <a:ext cx="11612880" cy="41148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DETAILED ANALYSIS: WHY RITES IS NOT REQUIRED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74320" y="3977639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5029200"/>
                <a:gridCol w="2926080"/>
              </a:tblGrid>
              <a:tr h="512064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Clause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Says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Conclusion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System Field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Bid Doc Line 133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'Inspection Required (By Empanelled Authority): NO'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Master setting = 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ATC Clause 5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Bid Doc Line 535-537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'Pre-dispatch Inspection...applicable only IF pre-dispatch inspection clause has been selected in ATC'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Condition NOT met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Disclaimer Pt 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Bid Doc Line 594-596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'ATC Clauses in contravention of system generated bid template...not valid'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ATC overridden by system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Contract 2.5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Contract Line 500-501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Same conditional wording: 'applicable only IF selected'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Condition never satisfied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274320" y="5943600"/>
            <a:ext cx="11612880" cy="54864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6188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VERDICT: RITES / Third Party Inspection is NOT Required. OEM dispatches directly to consignee. Post-receipt inspection by Consignee only.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L1 Evaluation &amp; Purchase Preferences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4114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</a:defRPr>
            </a:pPr>
            <a:r>
              <a:t>L1 = LOWEST BIDDER (Total Value Wise Evaluation)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11612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412480"/>
              </a:tblGrid>
              <a:tr h="35052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Evaluation Method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Total Value Wise Evaluation (Price x Quantity)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L1 Definition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Lowest total bid value meeting all technical &amp; commercial requirements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Estimated Bid Value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Rs 54,42,000 (for EMD &amp; eligibility criteria)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Actual Contract Value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Rs 43,00,200 (L1 price awarded)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Unit Price Awarded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Rs 35,835 per piece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3749039"/>
            <a:ext cx="5577840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673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MAKE IN INDIA (MII) PREFERENCE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251960"/>
          <a:ext cx="55778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834640"/>
              </a:tblGrid>
              <a:tr h="3505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MII Parameter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MII Preference Applicable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Price Band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L1 + 20%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Max Quantity for MII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50% of bid quantity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Local Content (Class 1)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Minimum 50%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Local Content (Class 2)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Minimum 20%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126480" y="3749039"/>
            <a:ext cx="5760720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7673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MSE PURCHASE PREFERENCE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26480" y="4251960"/>
          <a:ext cx="5760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926080"/>
              </a:tblGrid>
              <a:tr h="3505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MSE Parameter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MSE Preference Applicable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Price Band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L1 + 15%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Max Quantity for MSE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25% of bid quantity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MSE Must Be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Manufacturer/OEM only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Traders Excluded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Documents Required from Seller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11612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200400"/>
                <a:gridCol w="5029200"/>
                <a:gridCol w="2743200"/>
              </a:tblGrid>
              <a:tr h="315883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S.No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Document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Mandatory?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BIS Registration Certificate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Product certification as per IS 1475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Type Test Report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Central Govt/NABL/ILAC accredited lab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OEM Authorization Certificate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If distributor is bidding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Past Performance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20% of qty supplied in last 3 yrs to Govt/PSU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Local Content Certificate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For MII purchase preference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If MII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Udyam Registration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For MSE purchase preference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If MSE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Financial Standing Undertaking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Not under liquidation/bankruptcy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EMD (FDR/Bank Guarantee)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Rs 1,08,840 in favour of FA and CAO/C/NWR/JP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ePBG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5% of contract value, 12 months duration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After Award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1589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Test Reports on Supply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All test reports to consignee at time of supply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" y="4572000"/>
            <a:ext cx="11612880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WARNING: Bid will be REJECTED if any certificate/document is missing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Past Performance: 20% of bid qty (24 pcs) in any 1 of last 3 financial years to Central/State Govt/PSU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MSE sellers must be validated on GeM AND approved by Buyer after document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EMD, ePBG &amp; Financial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577840" cy="41148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EMD (Earnest Money Deposit)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5577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91840"/>
              </a:tblGrid>
              <a:tr h="326571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EMD Parameter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EMD Amount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Rs 1,08,840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Advisory Bank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State Bank of India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Beneficiary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FA and CAO/C/NWR/JP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Form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FDR or Bank Guarantee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EMD Exemption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MSE Manufacturers eligible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FDR hardcopy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Within 5 days of bid end date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26480" y="960120"/>
            <a:ext cx="5760720" cy="41148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9784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ePBG (Performance Security)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46304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383280"/>
              </a:tblGrid>
              <a:tr h="326571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ePBG Parameter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ePBG Percentage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5% of contract value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12 Months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Advisory Bank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State Bank of India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Form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ePBG or FDR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26571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FDR hardcopy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Within 15 days of award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Release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After contract completion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74320" y="4023360"/>
            <a:ext cx="11612880" cy="4114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416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CONTRACT VALUE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286000" y="4572000"/>
          <a:ext cx="7589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846320"/>
              </a:tblGrid>
              <a:tr h="33528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Total Order Value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Rs 43,00,200 (120 pcs x Rs 35,835)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EMD (2%)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Rs 1,08,840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ePBG (5%)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Rs 2,15,010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Payment Mode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Railways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Beneficiary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FA and CAO/C/NWR/JP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Seller &amp; Contract Details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11612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412480"/>
              </a:tblGrid>
              <a:tr h="2743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GeM Seller ID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D062180000101298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Company Name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COOL HOME (INDIA)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Contact Number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09810112262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coolhomeindia@gmail.com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Address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G 239 Phase 1, Masurie Gulawati Road, Hapur, Khichra, UP - 201015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MSME Registration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UDYAM-UP-29-0046703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GSTIN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09AACFC5375L1Z3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Selling As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OEM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MII Status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Verified by Buyer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MSME Status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Verified by Buyer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" y="4114800"/>
            <a:ext cx="11612880" cy="41148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33087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PRODUCT AWARDED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617720"/>
          <a:ext cx="11612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412480"/>
              </a:tblGrid>
              <a:tr h="2235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223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FRESCO CASA Storage Type Water Cooler 150 LPH Cooling Capacity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23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FRESCO CASA (Registered Brand)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223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FCSWC150150RIO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23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Catalogue Status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OEM verified catalogue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223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Unit Price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Rs 35,835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23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Quantity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120 pieces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223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Total Value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Rs 43,00,200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23520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Country of Origin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India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OEM Split Delivery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577840" cy="4114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WHAT CAN BE SPLIT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5577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834640"/>
              </a:tblGrid>
              <a:tr h="287382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Split Activity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Delivery to 4 locations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YES - Separate deliveries allowed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Manufacture batch-wise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YES - Produce in batches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Dispatch batches separately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YES - Send as each batch is ready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Separate invoice per location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YES - Per GST invoice to each consignee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Delivery at different dates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YES - Within 60-day window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87388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RITES inspection batch-wise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NOT APPLICABLE - RITES not required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26480" y="960120"/>
            <a:ext cx="576072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9784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WHAT CANNOT BE SPLIT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463040"/>
          <a:ext cx="5760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743200"/>
              </a:tblGrid>
              <a:tr h="287382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Non-Split Activity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Bid quantity among sellers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NO - 1 seller for all 120 pcs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Single contract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NO - One contract for full Qty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Separate bids per location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NO - Bid splitting not applied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Different specs per location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NO - Same specs for all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287382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RITES location change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N/A - Not required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87388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Skip RITES inspection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N/A - Not required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74320" y="3749039"/>
            <a:ext cx="11612880" cy="41148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673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RECOMMENDED BATCH DELIVERY PLAN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4251960"/>
          <a:ext cx="116128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2286000"/>
                <a:gridCol w="347472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Batch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For Location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Consignee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Delivery By</a:t>
                      </a:r>
                    </a:p>
                  </a:txBody>
                  <a:tcPr marL="36576" marR="36576" marT="18288" marB="18288">
                    <a:solidFill>
                      <a:srgbClr val="00326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Jodhpur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Ashok Kumar Dabi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Within 60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Ajmer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Deepak Garg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Within 60 days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Bikaner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Sunil Kumar Singh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Within 60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Surendra Meena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Within 60 days</a:t>
                      </a:r>
                    </a:p>
                  </a:txBody>
                  <a:tcPr marL="36576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943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RITES pre-dispatch inspection NOT required - OEM dispatches directly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Each consignee conducts their own post-receipt inspection at their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2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Summary &amp;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DDEEFF"/>
                </a:solidFill>
              </a:defRPr>
            </a:pPr>
            <a:r>
              <a:t>• Bid GEM/2026/B/7094486 for 120 Water Coolers awarded to COOL HOME (INDIA) at Rs 35,835/unit</a:t>
            </a:r>
          </a:p>
          <a:p>
            <a:pPr>
              <a:spcAft>
                <a:spcPts val="300"/>
              </a:spcAft>
              <a:defRPr sz="1400">
                <a:solidFill>
                  <a:srgbClr val="DDEEFF"/>
                </a:solidFill>
              </a:defRPr>
            </a:pPr>
            <a:r>
              <a:t>• Total contract value: Rs 43,00,200 | EMD: Rs 1,08,840 | ePBG: 5%</a:t>
            </a:r>
          </a:p>
          <a:p>
            <a:pPr>
              <a:spcAft>
                <a:spcPts val="300"/>
              </a:spcAft>
              <a:defRPr sz="1400">
                <a:solidFill>
                  <a:srgbClr val="DDEEFF"/>
                </a:solidFill>
              </a:defRPr>
            </a:pPr>
            <a:r>
              <a:t>• Product: Storage Type Water Cooler, 150 LPH, SS 304, IS 1475 compliant, BIS certified</a:t>
            </a:r>
          </a:p>
          <a:p>
            <a:pPr>
              <a:spcAft>
                <a:spcPts val="300"/>
              </a:spcAft>
              <a:defRPr sz="1400">
                <a:solidFill>
                  <a:srgbClr val="DDEEFF"/>
                </a:solidFill>
              </a:defRPr>
            </a:pPr>
            <a:r>
              <a:t>• 4 Consignees across Rajasthan: Jodhpur (67), Ajmer (33), Bikaner (2), Jaipur (18)</a:t>
            </a:r>
          </a:p>
          <a:p>
            <a:pPr>
              <a:spcAft>
                <a:spcPts val="300"/>
              </a:spcAft>
              <a:defRPr sz="1400">
                <a:solidFill>
                  <a:srgbClr val="DDEEFF"/>
                </a:solidFill>
              </a:defRPr>
            </a:pPr>
            <a:r>
              <a:t>• Delivery to all 4 locations within 60 days from 18-Mar-2026</a:t>
            </a:r>
          </a:p>
          <a:p>
            <a:pPr>
              <a:spcAft>
                <a:spcPts val="300"/>
              </a:spcAft>
              <a:defRPr sz="1400">
                <a:solidFill>
                  <a:srgbClr val="DDEEFF"/>
                </a:solidFill>
              </a:defRPr>
            </a:pPr>
            <a:r>
              <a:t>• RITES pre-dispatch inspection NOT required (system says No, ATC condition not met)</a:t>
            </a:r>
          </a:p>
          <a:p>
            <a:pPr>
              <a:spcAft>
                <a:spcPts val="300"/>
              </a:spcAft>
              <a:defRPr sz="1400">
                <a:solidFill>
                  <a:srgbClr val="DDEEFF"/>
                </a:solidFill>
              </a:defRPr>
            </a:pPr>
            <a:r>
              <a:t>• Each consignee conducts independent post-receipt inspection at their site</a:t>
            </a:r>
          </a:p>
          <a:p>
            <a:pPr>
              <a:spcAft>
                <a:spcPts val="300"/>
              </a:spcAft>
              <a:defRPr sz="1400">
                <a:solidFill>
                  <a:srgbClr val="DDEEFF"/>
                </a:solidFill>
              </a:defRPr>
            </a:pPr>
            <a:r>
              <a:t>• Delivery CAN be split batch-wise (67, 33, 2, 18) at different times</a:t>
            </a:r>
          </a:p>
          <a:p>
            <a:pPr>
              <a:spcAft>
                <a:spcPts val="300"/>
              </a:spcAft>
              <a:defRPr sz="1400">
                <a:solidFill>
                  <a:srgbClr val="DDEEFF"/>
                </a:solidFill>
              </a:defRPr>
            </a:pPr>
            <a:r>
              <a:t>• MII preference: L1+20% | MSE preference: L1+15% | Both verified for this seller</a:t>
            </a:r>
          </a:p>
          <a:p>
            <a:pPr>
              <a:spcAft>
                <a:spcPts val="300"/>
              </a:spcAft>
              <a:defRPr sz="1400">
                <a:solidFill>
                  <a:srgbClr val="DDEEFF"/>
                </a:solidFill>
              </a:defRPr>
            </a:pPr>
            <a:r>
              <a:t>• Option clause: Buyer can increase/decrease qty up to 25% at placement; increase up to 25% during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BBDD"/>
                </a:solidFill>
              </a:defRPr>
            </a:pPr>
            <a:r>
              <a:t>North Western Railway  |  Indian Railways  |  Ministry of Railways  |  GeM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