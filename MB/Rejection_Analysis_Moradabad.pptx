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286000"/>
            <a:ext cx="12192000" cy="2011680"/>
          </a:xfrm>
          <a:prstGeom prst="rect">
            <a:avLst/>
          </a:prstGeom>
          <a:solidFill>
            <a:srgbClr val="2C3E6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37744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REJECTION ANALYSIS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ACTION PLAN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Cooler Supply - GeM Contract GEMC-511687763924679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114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Northern Railway | Moradabad Division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5029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Supplier: M/s Cool Home (India), Greater Noida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5486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July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TENDER &amp; CONTRACT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5303520" cy="4754880"/>
          </a:xfrm>
          <a:prstGeom prst="rect">
            <a:avLst>
              <a:gd name="adj" fmla="val 1923"/>
            </a:avLst>
          </a:prstGeom>
          <a:solidFill>
            <a:srgbClr val="F5F6F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801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 Bid No.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0" y="1280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GEM/2026/B/7299831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682496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No.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0" y="1682496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GEMC-511687763924679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08483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Date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0" y="208483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15-04-2026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48716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743200" y="24871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Northern Railway, Moradabad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2889504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43200" y="2889504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M/s Cool Home (India)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32918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43200" y="32918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Cooler, Storage Type, 150 L/hr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3694176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743200" y="3694176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Units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409651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Rate/Unit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743200" y="409651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 35,200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449884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Value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743200" y="449884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 10,20,800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4901184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743200" y="4901184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RITES (Pre-Dispatch)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53035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Consignee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743200" y="53035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SSE/ACSP/MB, Moradabad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035040" y="1188720"/>
            <a:ext cx="5669280" cy="4754880"/>
          </a:xfrm>
          <a:prstGeom prst="roundRect">
            <a:avLst>
              <a:gd name="adj" fmla="val 1923"/>
            </a:avLst>
          </a:prstGeom>
          <a:solidFill>
            <a:srgbClr val="FDEDEC"/>
          </a:solidFill>
          <a:ln/>
        </p:spPr>
      </p:sp>
      <p:sp>
        <p:nvSpPr>
          <p:cNvPr id="28" name="Text 26"/>
          <p:cNvSpPr/>
          <p:nvPr/>
        </p:nvSpPr>
        <p:spPr>
          <a:xfrm>
            <a:off x="6217920" y="132588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REJECTION ALERT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309360" y="1828800"/>
            <a:ext cx="51206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Rejection Advice No: </a:t>
            </a:r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76673-26-00257
</a:t>
            </a:r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</a:t>
            </a:r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22-07-2026
</a:t>
            </a:r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Qty Invoiced: </a:t>
            </a:r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Nos.
</a:t>
            </a:r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Qty Received: </a:t>
            </a:r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Nos.
</a:t>
            </a:r>
            <a:pPr indent="0" marL="0"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Qty Rejected: </a:t>
            </a:r>
            <a:pPr indent="0" marL="0"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Nos. (ALL)
</a:t>
            </a:r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Reason:
</a:t>
            </a:r>
            <a:pPr indent="0" marL="0">
              <a:buNone/>
            </a:pPr>
            <a:r>
              <a:rPr lang="en-US" sz="1100" i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"Product supplied is not as per specifications (Under rated and poor Quality)"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0" y="6217920"/>
            <a:ext cx="1219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- For Internal Use Only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COMPRESSOR ANALYSIS - THE ROOT CAUSE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11338560" cy="1645920"/>
          </a:xfrm>
          <a:prstGeom prst="roundRect">
            <a:avLst>
              <a:gd name="adj" fmla="val 5556"/>
            </a:avLst>
          </a:prstGeom>
          <a:solidFill>
            <a:srgbClr val="FDEDE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80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FINDING: GODREJ GE153H IS A 200W REFRIGERATOR COMPRESSOR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a Water Cooler that requires 1550W - This is 7.75x under-powered for the application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1945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IndiaMART (Jupiter Refrigeration, Ahmedabad) - Verified Product Listing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3063240"/>
            <a:ext cx="11338560" cy="4114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30632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108960" y="306324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Tender Required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126480" y="306324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GE153H Actual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144000" y="30632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3502152"/>
            <a:ext cx="1133856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50215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Rating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108960" y="3502152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1550 Watt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126480" y="3502152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Watt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144000" y="350215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7.75x UNDER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941064"/>
            <a:ext cx="11338560" cy="41148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941064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Cooling Capacity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108960" y="3941064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L/hr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126480" y="3941064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rated for water cooler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144000" y="3941064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APPLICABLE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4379976"/>
            <a:ext cx="1133856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379976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108960" y="4379976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Cooler (IS 1475)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126480" y="4379976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Refrigerator / Deep Freeze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144000" y="4379976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APPLICATION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4818888"/>
            <a:ext cx="11338560" cy="41148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481888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Compressor Type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108960" y="4818888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IS 1475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126480" y="4818888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Reciprocating (Fridge)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144000" y="481888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MISMATCH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65760" y="5257800"/>
            <a:ext cx="1133856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52578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Voltage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108960" y="52578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230V AC, 50Hz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126480" y="52578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220-240V AC, 50Hz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9144000" y="52578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65760" y="5696712"/>
            <a:ext cx="11338560" cy="41148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9" name="Text 37"/>
          <p:cNvSpPr/>
          <p:nvPr/>
        </p:nvSpPr>
        <p:spPr>
          <a:xfrm>
            <a:off x="457200" y="569671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Refrigerant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108960" y="5696712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R134A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126480" y="5696712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R134A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9144000" y="569671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0" y="6217920"/>
            <a:ext cx="1219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- For Internal Use Only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ANALYSIS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5303520" cy="2377440"/>
          </a:xfrm>
          <a:prstGeom prst="roundRect">
            <a:avLst>
              <a:gd name="adj" fmla="val 3846"/>
            </a:avLst>
          </a:prstGeom>
          <a:solidFill>
            <a:srgbClr val="FDEDE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801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ISSUE: Under-Rated Compressor (CONFIRMED)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645920"/>
            <a:ext cx="48463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GE153H = 200W refrigerator compressor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Tender requires 1550W for 150 L/hr cooling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Compressor is 7.75x under-powered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fridges, NOT water coolers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deliver 150 L/hr cooling capacity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035040" y="1188720"/>
            <a:ext cx="5669280" cy="2377440"/>
          </a:xfrm>
          <a:prstGeom prst="roundRect">
            <a:avLst>
              <a:gd name="adj" fmla="val 3846"/>
            </a:avLst>
          </a:prstGeom>
          <a:solidFill>
            <a:srgbClr val="FEF9E7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0" y="12801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ISSUE: Poor Quality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63640" y="1645920"/>
            <a:ext cx="52120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quality below expected standards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 body material: SS 202 (tender may require SS 304)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Tender requires IS 1475 compliance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issues with PUF insulation, finishing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build quality did not meet Railway standards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3749040"/>
            <a:ext cx="11338560" cy="2286000"/>
          </a:xfrm>
          <a:prstGeom prst="roundRect">
            <a:avLst>
              <a:gd name="adj" fmla="val 4000"/>
            </a:avLst>
          </a:prstGeom>
          <a:solidFill>
            <a:srgbClr val="EBF5FB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840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OBSERVATION: RITES Inspection Gap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4206240"/>
            <a:ext cx="108813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RITES was mandated for Pre-Dispatch Inspection at seller premises - RITES cleared the goods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RITES clearance, ALL 29 units rejected at consignee site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Rejection remarks: "Consignee (RITES) may take necessary action against Inspecting Officials"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indicates negligence by RITES inspecting officials - they cleared a 200W fridge compressor for a 1550W water cooler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OPPORTUNITY: RITES clearance can be used as defense argument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0" y="6217920"/>
            <a:ext cx="1219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- For Internal Use Only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TECHNICAL SPECIFICATION vs WHAT WAS SUPPLIED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11338560" cy="4572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834640" y="11887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Tender Requirement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852160" y="11887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Supplied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0" y="11887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664208"/>
            <a:ext cx="1133856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66420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Cooling Capacity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834640" y="166420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L/hr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852160" y="166420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GE153H - 200W fridge compressor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144000" y="166420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NON-CONFORMING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139696"/>
            <a:ext cx="11338560" cy="4572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13969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Power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834640" y="2139696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1550 Watt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852160" y="2139696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Watt (7.75x under)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144000" y="2139696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NON-CONFORMING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2615184"/>
            <a:ext cx="1133856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2615184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Voltage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834640" y="2615184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230V AC, 50Hz, Single Phase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852160" y="261518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220-240V AC, 50Hz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144000" y="2615184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090672"/>
            <a:ext cx="11338560" cy="4572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309067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Tank Material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834640" y="309067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 304 Food Grade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852160" y="309067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 304 Food Grade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144000" y="309067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3566160"/>
            <a:ext cx="1133856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35661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 Body Material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834640" y="35661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 (Check spec)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852160" y="35661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 202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144000" y="35661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NEEDED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65760" y="4041648"/>
            <a:ext cx="11338560" cy="4572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404164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Compressor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834640" y="404164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IS 1475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852160" y="404164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Godrej GE153H (200W fridge)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9144000" y="404164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65760" y="4517136"/>
            <a:ext cx="1133856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457200" y="451713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 Mark / IS 1475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2834640" y="4517136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852160" y="4517136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Claimed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9144000" y="4517136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INSPECTION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65760" y="4992624"/>
            <a:ext cx="11338560" cy="4572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45" name="Text 43"/>
          <p:cNvSpPr/>
          <p:nvPr/>
        </p:nvSpPr>
        <p:spPr>
          <a:xfrm>
            <a:off x="457200" y="4992624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Compressor Warranty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2834640" y="4992624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Years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852160" y="499262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verified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9144000" y="4992624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65760" y="5468112"/>
            <a:ext cx="1133856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0" name="Text 48"/>
          <p:cNvSpPr/>
          <p:nvPr/>
        </p:nvSpPr>
        <p:spPr>
          <a:xfrm>
            <a:off x="457200" y="546811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Warranty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2834640" y="546811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Year Comprehensive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852160" y="546811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verified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9144000" y="546811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0" y="6217920"/>
            <a:ext cx="1219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- For Internal Use Only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STRATEGIES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5486400" cy="2194560"/>
          </a:xfrm>
          <a:prstGeom prst="roundRect">
            <a:avLst>
              <a:gd name="adj" fmla="val 4167"/>
            </a:avLst>
          </a:prstGeom>
          <a:solidFill>
            <a:srgbClr val="F5F6F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801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1: Challenge the Rejection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645920"/>
            <a:ext cx="50292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Argue RITES pre-dispatch clearance = specs were met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specific test data from consignee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testing methodology &amp; conditions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for transit damage possibilities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 RISK - compressor is clearly under-rated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17920" y="1188720"/>
            <a:ext cx="5486400" cy="2194560"/>
          </a:xfrm>
          <a:prstGeom prst="roundRect">
            <a:avLst>
              <a:gd name="adj" fmla="val 4167"/>
            </a:avLst>
          </a:prstGeom>
          <a:solidFill>
            <a:srgbClr val="E8F8F5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0" y="12801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2: Accept &amp; Replace (RECOMMENDED)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46520" y="1645920"/>
            <a:ext cx="50292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rejection diplomatically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29 units before free period expires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replacement units with correct compressor (1500W+)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30-45 day timeline from buyer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preserving Railway relationship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3566160"/>
            <a:ext cx="5486400" cy="2194560"/>
          </a:xfrm>
          <a:prstGeom prst="roundRect">
            <a:avLst>
              <a:gd name="adj" fmla="val 4167"/>
            </a:avLst>
          </a:prstGeom>
          <a:solidFill>
            <a:srgbClr val="FEF9E7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6576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3: Modify In-Situ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4023360"/>
            <a:ext cx="50292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200W compressor with 1500W+ rated model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Retest and resubmit to consignee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cooler bodies if quality is acceptable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COSTLY and TIME-CONSUMING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agreement uncertain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3566160"/>
            <a:ext cx="5486400" cy="2194560"/>
          </a:xfrm>
          <a:prstGeom prst="roundRect">
            <a:avLst>
              <a:gd name="adj" fmla="val 4167"/>
            </a:avLst>
          </a:prstGeom>
          <a:solidFill>
            <a:srgbClr val="EBF5FB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36576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46520" y="4023360"/>
            <a:ext cx="50292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with Option 2 - Accept &amp; Replace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Negotiate with Sameer Mathur (SSE/ACSP/MB)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removal of stock immediately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correct 1500W+ compressor before resupply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everything for future compliance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0" y="6217920"/>
            <a:ext cx="1219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- For Internal Use Only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ACTION PLAN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11338560" cy="530352"/>
          </a:xfrm>
          <a:prstGeom prst="rect">
            <a:avLst>
              <a:gd name="adj" fmla="val 8621"/>
            </a:avLst>
          </a:prstGeom>
          <a:solidFill>
            <a:srgbClr val="F8F9F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16152"/>
            <a:ext cx="1005840" cy="365760"/>
          </a:xfrm>
          <a:prstGeom prst="roundRect">
            <a:avLst>
              <a:gd name="adj" fmla="val 20000"/>
            </a:avLst>
          </a:prstGeom>
          <a:solidFill>
            <a:srgbClr val="E74C3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16152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600200" y="1143000"/>
            <a:ext cx="3474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29 rejected units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120640" y="1143000"/>
            <a:ext cx="4114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ground rent liability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326880" y="1143000"/>
            <a:ext cx="2286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719072"/>
            <a:ext cx="11338560" cy="530352"/>
          </a:xfrm>
          <a:prstGeom prst="rect">
            <a:avLst>
              <a:gd name="adj" fmla="val 8621"/>
            </a:avLst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1792224"/>
            <a:ext cx="1005840" cy="365760"/>
          </a:xfrm>
          <a:prstGeom prst="roundRect">
            <a:avLst>
              <a:gd name="adj" fmla="val 20000"/>
            </a:avLst>
          </a:prstGeom>
          <a:solidFill>
            <a:srgbClr val="E74C3C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792224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600200" y="1719072"/>
            <a:ext cx="3474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Compressor issue CONFIRMED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120640" y="1719072"/>
            <a:ext cx="4114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200W fridge compressor in 1550W cooler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326880" y="1719072"/>
            <a:ext cx="2286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295144"/>
            <a:ext cx="11338560" cy="530352"/>
          </a:xfrm>
          <a:prstGeom prst="rect">
            <a:avLst>
              <a:gd name="adj" fmla="val 8621"/>
            </a:avLst>
          </a:prstGeom>
          <a:solidFill>
            <a:srgbClr val="F8F9FA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2368296"/>
            <a:ext cx="1005840" cy="365760"/>
          </a:xfrm>
          <a:prstGeom prst="roundRect">
            <a:avLst>
              <a:gd name="adj" fmla="val 20000"/>
            </a:avLst>
          </a:prstGeom>
          <a:solidFill>
            <a:srgbClr val="F39C12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368296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600200" y="2295144"/>
            <a:ext cx="3474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correct compressor (1500W+)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120640" y="2295144"/>
            <a:ext cx="4114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deliver 150 L/hr for water cooler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326880" y="2295144"/>
            <a:ext cx="2286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2871216"/>
            <a:ext cx="11338560" cy="530352"/>
          </a:xfrm>
          <a:prstGeom prst="rect">
            <a:avLst>
              <a:gd name="adj" fmla="val 8621"/>
            </a:avLst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" y="2944368"/>
            <a:ext cx="1005840" cy="365760"/>
          </a:xfrm>
          <a:prstGeom prst="roundRect">
            <a:avLst>
              <a:gd name="adj" fmla="val 20000"/>
            </a:avLst>
          </a:prstGeom>
          <a:solidFill>
            <a:srgbClr val="F39C12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2944368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600200" y="2871216"/>
            <a:ext cx="3474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RITES inspection cert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120640" y="2871216"/>
            <a:ext cx="4114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defense - RITES cleared wrong compressor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326880" y="2871216"/>
            <a:ext cx="2286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3447288"/>
            <a:ext cx="11338560" cy="530352"/>
          </a:xfrm>
          <a:prstGeom prst="rect">
            <a:avLst>
              <a:gd name="adj" fmla="val 8621"/>
            </a:avLst>
          </a:prstGeom>
          <a:solidFill>
            <a:srgbClr val="F8F9FA"/>
          </a:solidFill>
          <a:ln/>
        </p:spPr>
      </p:sp>
      <p:sp>
        <p:nvSpPr>
          <p:cNvPr id="29" name="Shape 27"/>
          <p:cNvSpPr/>
          <p:nvPr/>
        </p:nvSpPr>
        <p:spPr>
          <a:xfrm>
            <a:off x="457200" y="3520440"/>
            <a:ext cx="1005840" cy="365760"/>
          </a:xfrm>
          <a:prstGeom prst="roundRect">
            <a:avLst>
              <a:gd name="adj" fmla="val 20000"/>
            </a:avLst>
          </a:prstGeom>
          <a:solidFill>
            <a:srgbClr val="F39C12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352044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600200" y="3447288"/>
            <a:ext cx="3474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IS 1475 specific requirements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120640" y="3447288"/>
            <a:ext cx="4114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all non-conformances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326880" y="3447288"/>
            <a:ext cx="2286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3 Days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65760" y="4023360"/>
            <a:ext cx="11338560" cy="530352"/>
          </a:xfrm>
          <a:prstGeom prst="rect">
            <a:avLst>
              <a:gd name="adj" fmla="val 8621"/>
            </a:avLst>
          </a:prstGeom>
          <a:solidFill>
            <a:srgbClr val="FFFFFF"/>
          </a:solidFill>
          <a:ln/>
        </p:spPr>
      </p:sp>
      <p:sp>
        <p:nvSpPr>
          <p:cNvPr id="35" name="Shape 33"/>
          <p:cNvSpPr/>
          <p:nvPr/>
        </p:nvSpPr>
        <p:spPr>
          <a:xfrm>
            <a:off x="457200" y="4096512"/>
            <a:ext cx="1005840" cy="365760"/>
          </a:xfrm>
          <a:prstGeom prst="roundRect">
            <a:avLst>
              <a:gd name="adj" fmla="val 20000"/>
            </a:avLst>
          </a:prstGeom>
          <a:solidFill>
            <a:srgbClr val="27AE60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4096512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600200" y="4023360"/>
            <a:ext cx="3474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replacement proposal to buyer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120640" y="4023360"/>
            <a:ext cx="4114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communication with timeline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9326880" y="4023360"/>
            <a:ext cx="2286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7 Days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65760" y="4599432"/>
            <a:ext cx="11338560" cy="530352"/>
          </a:xfrm>
          <a:prstGeom prst="rect">
            <a:avLst>
              <a:gd name="adj" fmla="val 8621"/>
            </a:avLst>
          </a:prstGeom>
          <a:solidFill>
            <a:srgbClr val="F8F9FA"/>
          </a:solidFill>
          <a:ln/>
        </p:spPr>
      </p:sp>
      <p:sp>
        <p:nvSpPr>
          <p:cNvPr id="41" name="Shape 39"/>
          <p:cNvSpPr/>
          <p:nvPr/>
        </p:nvSpPr>
        <p:spPr>
          <a:xfrm>
            <a:off x="457200" y="4672584"/>
            <a:ext cx="1005840" cy="365760"/>
          </a:xfrm>
          <a:prstGeom prst="roundRect">
            <a:avLst>
              <a:gd name="adj" fmla="val 20000"/>
            </a:avLst>
          </a:prstGeom>
          <a:solidFill>
            <a:srgbClr val="27AE60"/>
          </a:solidFill>
          <a:ln/>
        </p:spPr>
      </p:sp>
      <p:sp>
        <p:nvSpPr>
          <p:cNvPr id="42" name="Text 40"/>
          <p:cNvSpPr/>
          <p:nvPr/>
        </p:nvSpPr>
        <p:spPr>
          <a:xfrm>
            <a:off x="457200" y="4672584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1600200" y="4599432"/>
            <a:ext cx="3474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quotes for correct compressor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120640" y="4599432"/>
            <a:ext cx="4114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Godrej/Copeland/Emerson options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9326880" y="4599432"/>
            <a:ext cx="2286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7 Days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65760" y="5175504"/>
            <a:ext cx="11338560" cy="530352"/>
          </a:xfrm>
          <a:prstGeom prst="rect">
            <a:avLst>
              <a:gd name="adj" fmla="val 8621"/>
            </a:avLst>
          </a:prstGeom>
          <a:solidFill>
            <a:srgbClr val="FFFFFF"/>
          </a:solidFill>
          <a:ln/>
        </p:spPr>
      </p:sp>
      <p:sp>
        <p:nvSpPr>
          <p:cNvPr id="47" name="Shape 45"/>
          <p:cNvSpPr/>
          <p:nvPr/>
        </p:nvSpPr>
        <p:spPr>
          <a:xfrm>
            <a:off x="457200" y="5248656"/>
            <a:ext cx="1005840" cy="365760"/>
          </a:xfrm>
          <a:prstGeom prst="roundRect">
            <a:avLst>
              <a:gd name="adj" fmla="val 20000"/>
            </a:avLst>
          </a:prstGeom>
          <a:solidFill>
            <a:srgbClr val="95A5A6"/>
          </a:solidFill>
          <a:ln/>
        </p:spPr>
      </p:sp>
      <p:sp>
        <p:nvSpPr>
          <p:cNvPr id="48" name="Text 46"/>
          <p:cNvSpPr/>
          <p:nvPr/>
        </p:nvSpPr>
        <p:spPr>
          <a:xfrm>
            <a:off x="457200" y="5248656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1600200" y="5175504"/>
            <a:ext cx="3474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warranty claims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120640" y="5175504"/>
            <a:ext cx="4114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5-year compressor warranty may apply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9326880" y="5175504"/>
            <a:ext cx="2286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30 Days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0" y="6217920"/>
            <a:ext cx="1219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- For Internal Use Only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CONTACTS &amp; DOCUMENT REFERENCES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5486400" cy="4846320"/>
          </a:xfrm>
          <a:prstGeom prst="roundRect">
            <a:avLst>
              <a:gd name="adj" fmla="val 1887"/>
            </a:avLst>
          </a:prstGeom>
          <a:solidFill>
            <a:srgbClr val="F5F6F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801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CONTACTS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645920"/>
            <a:ext cx="502920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Consignee: Sameer Mathur, SSE/ACSP/MB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Phone: 0591-2412081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Email: sameer.mathur75@gov.in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Buyer: SrDMM MB (vivekk.joshii@gov.in)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Phone: 0591-2413141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Agency: RITES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RITES NR: nrinspn@rites.com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Phone: +9188000018691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Rep: Vipin Kumar (Cool Home India)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17920" y="1188720"/>
            <a:ext cx="5486400" cy="4846320"/>
          </a:xfrm>
          <a:prstGeom prst="roundRect">
            <a:avLst>
              <a:gd name="adj" fmla="val 1887"/>
            </a:avLst>
          </a:prstGeom>
          <a:solidFill>
            <a:srgbClr val="F5F6F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0" y="12801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REFERENCES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46520" y="1645920"/>
            <a:ext cx="502920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Tender: GEM/2026/B/7299831 (27-03-2026)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Contract: GEMC-511687763924679 (15-04-2026)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Rejection Advice: 76673-26-00257 (22-07-2026)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DRR No: 76673-26-00256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Challan: DC/2026-27/54 (20-07-2026)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Note: 22-07-2026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Spec: Model SWCFCRIO150150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Compressor: Godrej GE153H (200W - CONFIRMED)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Standard: IS 1475 (Part-1) 2001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0" y="6217920"/>
            <a:ext cx="1219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- For Internal Use Only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14400" y="1188720"/>
            <a:ext cx="10058400" cy="777240"/>
          </a:xfrm>
          <a:prstGeom prst="roundRect">
            <a:avLst>
              <a:gd name="adj" fmla="val 11765"/>
            </a:avLst>
          </a:prstGeom>
          <a:solidFill>
            <a:srgbClr val="2C3E6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188720"/>
            <a:ext cx="731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920240" y="1188720"/>
            <a:ext cx="8686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GE153H = 200W fridge compressor used in 1550W water cooler (7.75x under-powered)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14400" y="2148840"/>
            <a:ext cx="10058400" cy="777240"/>
          </a:xfrm>
          <a:prstGeom prst="roundRect">
            <a:avLst>
              <a:gd name="adj" fmla="val 11765"/>
            </a:avLst>
          </a:prstGeom>
          <a:solidFill>
            <a:srgbClr val="2C3E6B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148840"/>
            <a:ext cx="731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920240" y="2148840"/>
            <a:ext cx="8686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Rejection is TECHNICALLY JUSTIFIED - compressor cannot deliver 150 L/hr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14400" y="3108960"/>
            <a:ext cx="10058400" cy="777240"/>
          </a:xfrm>
          <a:prstGeom prst="roundRect">
            <a:avLst>
              <a:gd name="adj" fmla="val 11765"/>
            </a:avLst>
          </a:prstGeom>
          <a:solidFill>
            <a:srgbClr val="2C3E6B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3108960"/>
            <a:ext cx="731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920240" y="3108960"/>
            <a:ext cx="8686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RITES cleared wrong compressor at pre-dispatch - negligence angle available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14400" y="4069080"/>
            <a:ext cx="10058400" cy="777240"/>
          </a:xfrm>
          <a:prstGeom prst="roundRect">
            <a:avLst>
              <a:gd name="adj" fmla="val 11765"/>
            </a:avLst>
          </a:prstGeom>
          <a:solidFill>
            <a:srgbClr val="2C3E6B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4069080"/>
            <a:ext cx="731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920240" y="4069080"/>
            <a:ext cx="8686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IMMEDIATE: Remove 29 units to avoid ground rent liability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14400" y="5029200"/>
            <a:ext cx="10058400" cy="777240"/>
          </a:xfrm>
          <a:prstGeom prst="roundRect">
            <a:avLst>
              <a:gd name="adj" fmla="val 11765"/>
            </a:avLst>
          </a:prstGeom>
          <a:solidFill>
            <a:srgbClr val="2C3E6B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5029200"/>
            <a:ext cx="731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920240" y="5029200"/>
            <a:ext cx="8686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PATH: Accept &amp; replace with correctly rated 1500W+ compressor units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5943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Internal Review | July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MORADABAD TENDER ANALYSIS</dc:creator>
  <cp:lastModifiedBy>MORADABAD TENDER ANALYSIS</cp:lastModifiedBy>
  <cp:revision>1</cp:revision>
  <dcterms:created xsi:type="dcterms:W3CDTF">2026-07-23T11:46:47Z</dcterms:created>
  <dcterms:modified xsi:type="dcterms:W3CDTF">2026-07-23T11:46:47Z</dcterms:modified>
</cp:coreProperties>
</file>